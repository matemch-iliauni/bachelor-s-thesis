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fa0063ec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fa0063ec3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jp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.jpg"/><Relationship Id="rId6" Type="http://schemas.openxmlformats.org/officeDocument/2006/relationships/image" Target="../media/image1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3.jpg"/><Relationship Id="rId7" Type="http://schemas.openxmlformats.org/officeDocument/2006/relationships/image" Target="../media/image17.jpg"/><Relationship Id="rId8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hyperlink" Target="https://test-website-pi-three.vercel.app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3.jp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8482774" y="-2387803"/>
            <a:ext cx="14345888" cy="13041725"/>
          </a:xfrm>
          <a:custGeom>
            <a:rect b="b" l="l" r="r" t="t"/>
            <a:pathLst>
              <a:path extrusionOk="0" h="17388967" w="19127851">
                <a:moveTo>
                  <a:pt x="0" y="0"/>
                </a:moveTo>
                <a:lnTo>
                  <a:pt x="19127851" y="0"/>
                </a:lnTo>
                <a:lnTo>
                  <a:pt x="19127851" y="17388967"/>
                </a:lnTo>
                <a:lnTo>
                  <a:pt x="0" y="17388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999"/>
            </a:blip>
            <a:stretch>
              <a:fillRect b="-79" l="0" r="0" t="-79"/>
            </a:stretch>
          </a:blipFill>
          <a:ln>
            <a:noFill/>
          </a:ln>
        </p:spPr>
      </p:sp>
      <p:cxnSp>
        <p:nvCxnSpPr>
          <p:cNvPr id="87" name="Google Shape;87;p13"/>
          <p:cNvCxnSpPr/>
          <p:nvPr/>
        </p:nvCxnSpPr>
        <p:spPr>
          <a:xfrm rot="9420">
            <a:off x="4395026" y="341071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3"/>
          <p:cNvSpPr/>
          <p:nvPr/>
        </p:nvSpPr>
        <p:spPr>
          <a:xfrm>
            <a:off x="9598914" y="3748364"/>
            <a:ext cx="8689086" cy="6538626"/>
          </a:xfrm>
          <a:custGeom>
            <a:rect b="b" l="l" r="r" t="t"/>
            <a:pathLst>
              <a:path extrusionOk="0" h="8718169" w="11585448">
                <a:moveTo>
                  <a:pt x="0" y="0"/>
                </a:moveTo>
                <a:lnTo>
                  <a:pt x="11585448" y="0"/>
                </a:lnTo>
                <a:lnTo>
                  <a:pt x="11585448" y="8718169"/>
                </a:lnTo>
                <a:lnTo>
                  <a:pt x="0" y="8718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6453" r="-6453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 txBox="1"/>
          <p:nvPr/>
        </p:nvSpPr>
        <p:spPr>
          <a:xfrm>
            <a:off x="111319" y="3824554"/>
            <a:ext cx="10036197" cy="1493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გაზქურის მონიტორინგის სისტემა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201698" y="7085028"/>
            <a:ext cx="2606697" cy="1264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ჯგუფის წევრები:</a:t>
            </a:r>
            <a:endParaRPr/>
          </a:p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დათო ქადარია</a:t>
            </a:r>
            <a:endParaRPr/>
          </a:p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მათე მჭედლიშვილი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-4" y="770877"/>
            <a:ext cx="17259300" cy="1988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დამამთავრებელი კურსის დიზანის პროექტი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6903" y="7085019"/>
            <a:ext cx="4193696" cy="1264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კურსის ხელმძღვანელები:</a:t>
            </a:r>
            <a:endParaRPr/>
          </a:p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დავით ჩხაიძე</a:t>
            </a:r>
            <a:endParaRPr/>
          </a:p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გიორგი მოდებაძე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9525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4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11240747" y="2000136"/>
            <a:ext cx="6910483" cy="7089457"/>
          </a:xfrm>
          <a:custGeom>
            <a:rect b="b" l="l" r="r" t="t"/>
            <a:pathLst>
              <a:path extrusionOk="0" h="9452610" w="9213977">
                <a:moveTo>
                  <a:pt x="423418" y="0"/>
                </a:moveTo>
                <a:lnTo>
                  <a:pt x="8790559" y="0"/>
                </a:lnTo>
                <a:cubicBezTo>
                  <a:pt x="9024365" y="0"/>
                  <a:pt x="9213977" y="188341"/>
                  <a:pt x="9213977" y="420751"/>
                </a:cubicBezTo>
                <a:lnTo>
                  <a:pt x="9213977" y="9031986"/>
                </a:lnTo>
                <a:cubicBezTo>
                  <a:pt x="9213977" y="9264269"/>
                  <a:pt x="9024365" y="9452610"/>
                  <a:pt x="8790559" y="9452610"/>
                </a:cubicBezTo>
                <a:lnTo>
                  <a:pt x="423418" y="9452610"/>
                </a:lnTo>
                <a:cubicBezTo>
                  <a:pt x="189611" y="9452610"/>
                  <a:pt x="0" y="9264269"/>
                  <a:pt x="0" y="9031986"/>
                </a:cubicBezTo>
                <a:lnTo>
                  <a:pt x="0" y="420751"/>
                </a:lnTo>
                <a:cubicBezTo>
                  <a:pt x="0" y="188341"/>
                  <a:pt x="189611" y="0"/>
                  <a:pt x="423418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4706" r="-1470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3" name="Google Shape;103;p14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4"/>
          <p:cNvSpPr/>
          <p:nvPr/>
        </p:nvSpPr>
        <p:spPr>
          <a:xfrm>
            <a:off x="81581" y="1506455"/>
            <a:ext cx="10631238" cy="5246370"/>
          </a:xfrm>
          <a:custGeom>
            <a:rect b="b" l="l" r="r" t="t"/>
            <a:pathLst>
              <a:path extrusionOk="0" h="812800" w="1647057">
                <a:moveTo>
                  <a:pt x="0" y="0"/>
                </a:moveTo>
                <a:lnTo>
                  <a:pt x="1647057" y="0"/>
                </a:lnTo>
                <a:lnTo>
                  <a:pt x="1647057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30319" l="0" r="0" t="-30319"/>
            </a:stretch>
          </a:blipFill>
          <a:ln>
            <a:noFill/>
          </a:ln>
        </p:spPr>
      </p:sp>
      <p:sp>
        <p:nvSpPr>
          <p:cNvPr id="105" name="Google Shape;105;p14"/>
          <p:cNvSpPr txBox="1"/>
          <p:nvPr/>
        </p:nvSpPr>
        <p:spPr>
          <a:xfrm>
            <a:off x="319768" y="303825"/>
            <a:ext cx="10084296" cy="922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პროექტის მიმოხილვა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19768" y="6784365"/>
            <a:ext cx="9970879" cy="3014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შევქმენით გაზქურის მონიტორინგის სისტემა, რომელიც თერმული კამერის გამოყენებით აღმოაჩენს ცეცხლის ჩაქრობას და მყისიერად ატყობინებს მომხმარებელს დინამიკისა და Telegram-ის მეშვეობით.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3" name="Google Shape;113;p15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5"/>
          <p:cNvSpPr/>
          <p:nvPr/>
        </p:nvSpPr>
        <p:spPr>
          <a:xfrm>
            <a:off x="-22673" y="2150658"/>
            <a:ext cx="17371122" cy="7426155"/>
          </a:xfrm>
          <a:custGeom>
            <a:rect b="b" l="l" r="r" t="t"/>
            <a:pathLst>
              <a:path extrusionOk="0" h="7426155" w="17371122">
                <a:moveTo>
                  <a:pt x="0" y="0"/>
                </a:moveTo>
                <a:lnTo>
                  <a:pt x="17371122" y="0"/>
                </a:lnTo>
                <a:lnTo>
                  <a:pt x="17371122" y="7426155"/>
                </a:lnTo>
                <a:lnTo>
                  <a:pt x="0" y="7426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5"/>
          <p:cNvSpPr txBox="1"/>
          <p:nvPr/>
        </p:nvSpPr>
        <p:spPr>
          <a:xfrm>
            <a:off x="0" y="98279"/>
            <a:ext cx="9851403" cy="134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ბლოკდიაგრამა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-2883294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6"/>
          <p:cNvSpPr/>
          <p:nvPr/>
        </p:nvSpPr>
        <p:spPr>
          <a:xfrm>
            <a:off x="737740" y="6475324"/>
            <a:ext cx="6976128" cy="3502629"/>
          </a:xfrm>
          <a:custGeom>
            <a:rect b="b" l="l" r="r" t="t"/>
            <a:pathLst>
              <a:path extrusionOk="0" h="4670171" w="9301504">
                <a:moveTo>
                  <a:pt x="0" y="0"/>
                </a:moveTo>
                <a:lnTo>
                  <a:pt x="9301504" y="0"/>
                </a:lnTo>
                <a:lnTo>
                  <a:pt x="9301504" y="4670171"/>
                </a:lnTo>
                <a:lnTo>
                  <a:pt x="0" y="4670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1229" r="-11229" t="0"/>
            </a:stretch>
          </a:blipFill>
          <a:ln>
            <a:noFill/>
          </a:ln>
        </p:spPr>
      </p:sp>
      <p:sp>
        <p:nvSpPr>
          <p:cNvPr id="123" name="Google Shape;123;p16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6"/>
          <p:cNvSpPr/>
          <p:nvPr/>
        </p:nvSpPr>
        <p:spPr>
          <a:xfrm>
            <a:off x="10390493" y="2731344"/>
            <a:ext cx="7591651" cy="5693716"/>
          </a:xfrm>
          <a:custGeom>
            <a:rect b="b" l="l" r="r" t="t"/>
            <a:pathLst>
              <a:path extrusionOk="0" h="7960868" w="10614533">
                <a:moveTo>
                  <a:pt x="0" y="0"/>
                </a:moveTo>
                <a:lnTo>
                  <a:pt x="10614533" y="0"/>
                </a:lnTo>
                <a:lnTo>
                  <a:pt x="10614533" y="7960868"/>
                </a:lnTo>
                <a:lnTo>
                  <a:pt x="0" y="7960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6232" r="-6232" t="0"/>
            </a:stretch>
          </a:blipFill>
          <a:ln>
            <a:noFill/>
          </a:ln>
        </p:spPr>
      </p:sp>
      <p:cxnSp>
        <p:nvCxnSpPr>
          <p:cNvPr id="125" name="Google Shape;125;p16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6"/>
          <p:cNvSpPr txBox="1"/>
          <p:nvPr/>
        </p:nvSpPr>
        <p:spPr>
          <a:xfrm>
            <a:off x="1" y="423615"/>
            <a:ext cx="14549999" cy="787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ტემპერატურის სენსორი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0" y="2206781"/>
            <a:ext cx="9968103" cy="367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MLX90640</a:t>
            </a:r>
            <a:endParaRPr/>
          </a:p>
          <a:p>
            <a:pPr indent="-218035" lvl="2" marL="654104" marR="0" rtl="0" algn="l">
              <a:lnSpc>
                <a:spcPct val="168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0"/>
              <a:buFont typeface="Arial"/>
              <a:buChar char="⚬"/>
            </a:pPr>
            <a:r>
              <a:rPr b="1" i="0" lang="en-US" sz="2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თერმული კამერა, 110° ხედვის კუთხით, ზომავს -40℃～300℃</a:t>
            </a:r>
            <a:endParaRPr/>
          </a:p>
          <a:p>
            <a:pPr indent="-106693" lvl="2" marL="320079" marR="0" rtl="0" algn="l">
              <a:lnSpc>
                <a:spcPct val="822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6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035" lvl="2" marL="654104" marR="0" rtl="0" algn="l">
              <a:lnSpc>
                <a:spcPct val="168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0"/>
              <a:buFont typeface="Arial"/>
              <a:buChar char="⚬"/>
            </a:pPr>
            <a:r>
              <a:rPr b="1" i="0" lang="en-US" sz="2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იყენებს I²C ინტერფეისს, რაც შესაძლებელს ხდის მის ინტეგრირებას ESP32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7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7"/>
          <p:cNvSpPr/>
          <p:nvPr/>
        </p:nvSpPr>
        <p:spPr>
          <a:xfrm>
            <a:off x="9144000" y="3258521"/>
            <a:ext cx="8541471" cy="6406103"/>
          </a:xfrm>
          <a:custGeom>
            <a:rect b="b" l="l" r="r" t="t"/>
            <a:pathLst>
              <a:path extrusionOk="0" h="10349103" w="13798804">
                <a:moveTo>
                  <a:pt x="0" y="0"/>
                </a:moveTo>
                <a:lnTo>
                  <a:pt x="13798804" y="0"/>
                </a:lnTo>
                <a:lnTo>
                  <a:pt x="13798804" y="10349103"/>
                </a:lnTo>
                <a:lnTo>
                  <a:pt x="0" y="1034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667" l="0" r="0" t="-16667"/>
            </a:stretch>
          </a:blipFill>
          <a:ln>
            <a:noFill/>
          </a:ln>
        </p:spPr>
      </p:sp>
      <p:sp>
        <p:nvSpPr>
          <p:cNvPr id="136" name="Google Shape;136;p17"/>
          <p:cNvSpPr txBox="1"/>
          <p:nvPr/>
        </p:nvSpPr>
        <p:spPr>
          <a:xfrm>
            <a:off x="0" y="584054"/>
            <a:ext cx="17073896" cy="787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მიკროკონტროლერი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8" name="Google Shape;138;p17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7"/>
          <p:cNvSpPr txBox="1"/>
          <p:nvPr/>
        </p:nvSpPr>
        <p:spPr>
          <a:xfrm>
            <a:off x="0" y="3210544"/>
            <a:ext cx="7938897" cy="5747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ESP-32S WROOM</a:t>
            </a:r>
            <a:endParaRPr/>
          </a:p>
          <a:p>
            <a:pPr indent="-208713" lvl="2" marL="626138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⚬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კომპაქტური და ძლიერი, მრავალფუნქციური მიკროკონტროლერი</a:t>
            </a:r>
            <a:endParaRPr/>
          </a:p>
          <a:p>
            <a:pPr indent="-100758" lvl="2" marL="302274" marR="0" rtl="0" algn="l">
              <a:lnSpc>
                <a:spcPct val="81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8713" lvl="2" marL="626138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⚬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უკაბელო კავშირის (Wi-Fi და Bluetooth) შესაძლებლობების მქონე მოწყობილობა, რომელიც ასევე გამორჩეულია ენერგოეფექტურობით.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8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8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8"/>
          <p:cNvSpPr/>
          <p:nvPr/>
        </p:nvSpPr>
        <p:spPr>
          <a:xfrm>
            <a:off x="9507045" y="2574684"/>
            <a:ext cx="7566756" cy="6053424"/>
          </a:xfrm>
          <a:custGeom>
            <a:rect b="b" l="l" r="r" t="t"/>
            <a:pathLst>
              <a:path extrusionOk="0" h="8071231" w="10089007">
                <a:moveTo>
                  <a:pt x="0" y="0"/>
                </a:moveTo>
                <a:lnTo>
                  <a:pt x="10089007" y="0"/>
                </a:lnTo>
                <a:lnTo>
                  <a:pt x="10089007" y="8071231"/>
                </a:lnTo>
                <a:lnTo>
                  <a:pt x="0" y="8071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2498" l="0" r="0" t="-12498"/>
            </a:stretch>
          </a:blipFill>
          <a:ln>
            <a:noFill/>
          </a:ln>
        </p:spPr>
      </p:sp>
      <p:sp>
        <p:nvSpPr>
          <p:cNvPr id="149" name="Google Shape;149;p18"/>
          <p:cNvSpPr txBox="1"/>
          <p:nvPr/>
        </p:nvSpPr>
        <p:spPr>
          <a:xfrm>
            <a:off x="0" y="584054"/>
            <a:ext cx="17073896" cy="787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დინამიკი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525" y="3201029"/>
            <a:ext cx="9311402" cy="308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3851" lvl="2" marL="671554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⚬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კომპაქტური active buzzer-ი, რომელიც ჩართვისას გამოსცემს ფიქსირებული სიხშირის (~85 dB) სიგნალს, რაც საკმაოდ ეფექტურია ლოკალური შეტყობინებისთვის.</a:t>
            </a:r>
            <a:endParaRPr/>
          </a:p>
          <a:p>
            <a:pPr indent="-108066" lvl="2" marL="324198" marR="0" rtl="0" algn="l">
              <a:lnSpc>
                <a:spcPct val="81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cxnSp>
        <p:nvCxnSpPr>
          <p:cNvPr id="152" name="Google Shape;152;p18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6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9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9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60" name="Google Shape;160;p19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9"/>
          <p:cNvSpPr/>
          <p:nvPr/>
        </p:nvSpPr>
        <p:spPr>
          <a:xfrm>
            <a:off x="11809574" y="2845358"/>
            <a:ext cx="5048794" cy="5048794"/>
          </a:xfrm>
          <a:custGeom>
            <a:rect b="b" l="l" r="r" t="t"/>
            <a:pathLst>
              <a:path extrusionOk="0" h="5048794" w="5048794">
                <a:moveTo>
                  <a:pt x="0" y="0"/>
                </a:moveTo>
                <a:lnTo>
                  <a:pt x="5048794" y="0"/>
                </a:lnTo>
                <a:lnTo>
                  <a:pt x="5048794" y="5048794"/>
                </a:lnTo>
                <a:lnTo>
                  <a:pt x="0" y="504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9"/>
          <p:cNvSpPr txBox="1"/>
          <p:nvPr/>
        </p:nvSpPr>
        <p:spPr>
          <a:xfrm>
            <a:off x="0" y="584054"/>
            <a:ext cx="17073896" cy="787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ღილაკი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0" y="3591449"/>
            <a:ext cx="8721900" cy="246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7167" lvl="1" marL="394335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ღილაკი აფიქსირებს დაჭერას და გადასცემს სიგნალს მიკროკონტროლერს, რითაც მოხდება სისტემის მართვა.</a:t>
            </a:r>
            <a:endParaRPr/>
          </a:p>
          <a:p>
            <a:pPr indent="-95184" lvl="1" marL="190369" marR="0" rtl="0" algn="l">
              <a:lnSpc>
                <a:spcPct val="81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7259300" y="9115425"/>
            <a:ext cx="152400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20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0"/>
          <p:cNvSpPr txBox="1"/>
          <p:nvPr/>
        </p:nvSpPr>
        <p:spPr>
          <a:xfrm>
            <a:off x="297888" y="457372"/>
            <a:ext cx="564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პროტოტიპი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0"/>
          <p:cNvSpPr/>
          <p:nvPr/>
        </p:nvSpPr>
        <p:spPr>
          <a:xfrm>
            <a:off x="11861964" y="1712455"/>
            <a:ext cx="4972912" cy="5135095"/>
          </a:xfrm>
          <a:custGeom>
            <a:rect b="b" l="l" r="r" t="t"/>
            <a:pathLst>
              <a:path extrusionOk="0" h="9369171" w="9073261">
                <a:moveTo>
                  <a:pt x="460248" y="0"/>
                </a:moveTo>
                <a:lnTo>
                  <a:pt x="8613140" y="0"/>
                </a:lnTo>
                <a:cubicBezTo>
                  <a:pt x="8735187" y="0"/>
                  <a:pt x="8852281" y="48514"/>
                  <a:pt x="8938514" y="134747"/>
                </a:cubicBezTo>
                <a:cubicBezTo>
                  <a:pt x="9024747" y="220980"/>
                  <a:pt x="9073261" y="338074"/>
                  <a:pt x="9073261" y="460121"/>
                </a:cubicBezTo>
                <a:lnTo>
                  <a:pt x="9073261" y="8908923"/>
                </a:lnTo>
                <a:cubicBezTo>
                  <a:pt x="9073261" y="9163050"/>
                  <a:pt x="8867267" y="9369171"/>
                  <a:pt x="8613013" y="9369171"/>
                </a:cubicBezTo>
                <a:lnTo>
                  <a:pt x="460248" y="9369171"/>
                </a:lnTo>
                <a:cubicBezTo>
                  <a:pt x="205994" y="9369171"/>
                  <a:pt x="0" y="9163177"/>
                  <a:pt x="0" y="8908923"/>
                </a:cubicBezTo>
                <a:lnTo>
                  <a:pt x="0" y="460248"/>
                </a:lnTo>
                <a:cubicBezTo>
                  <a:pt x="0" y="205994"/>
                  <a:pt x="205994" y="0"/>
                  <a:pt x="460248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4277" l="0" r="0" t="-1427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20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16271024" y="9477727"/>
            <a:ext cx="1127703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492097" y="1712455"/>
            <a:ext cx="4972912" cy="5135095"/>
          </a:xfrm>
          <a:custGeom>
            <a:rect b="b" l="l" r="r" t="t"/>
            <a:pathLst>
              <a:path extrusionOk="0" h="9369171" w="9073261">
                <a:moveTo>
                  <a:pt x="460248" y="0"/>
                </a:moveTo>
                <a:lnTo>
                  <a:pt x="8613140" y="0"/>
                </a:lnTo>
                <a:cubicBezTo>
                  <a:pt x="8735187" y="0"/>
                  <a:pt x="8852281" y="48514"/>
                  <a:pt x="8938514" y="134747"/>
                </a:cubicBezTo>
                <a:cubicBezTo>
                  <a:pt x="9024747" y="220980"/>
                  <a:pt x="9073261" y="338074"/>
                  <a:pt x="9073261" y="460121"/>
                </a:cubicBezTo>
                <a:lnTo>
                  <a:pt x="9073261" y="8908923"/>
                </a:lnTo>
                <a:cubicBezTo>
                  <a:pt x="9073261" y="9163050"/>
                  <a:pt x="8867267" y="9369171"/>
                  <a:pt x="8613013" y="9369171"/>
                </a:cubicBezTo>
                <a:lnTo>
                  <a:pt x="460248" y="9369171"/>
                </a:lnTo>
                <a:cubicBezTo>
                  <a:pt x="205994" y="9369171"/>
                  <a:pt x="0" y="9163177"/>
                  <a:pt x="0" y="8908923"/>
                </a:cubicBezTo>
                <a:lnTo>
                  <a:pt x="0" y="460248"/>
                </a:lnTo>
                <a:cubicBezTo>
                  <a:pt x="0" y="205994"/>
                  <a:pt x="205994" y="0"/>
                  <a:pt x="460248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36866" r="-3686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6177031" y="1712455"/>
            <a:ext cx="4972912" cy="5135095"/>
          </a:xfrm>
          <a:custGeom>
            <a:rect b="b" l="l" r="r" t="t"/>
            <a:pathLst>
              <a:path extrusionOk="0" h="9369171" w="9073261">
                <a:moveTo>
                  <a:pt x="460248" y="0"/>
                </a:moveTo>
                <a:lnTo>
                  <a:pt x="8613140" y="0"/>
                </a:lnTo>
                <a:cubicBezTo>
                  <a:pt x="8735187" y="0"/>
                  <a:pt x="8852281" y="48514"/>
                  <a:pt x="8938514" y="134747"/>
                </a:cubicBezTo>
                <a:cubicBezTo>
                  <a:pt x="9024747" y="220980"/>
                  <a:pt x="9073261" y="338074"/>
                  <a:pt x="9073261" y="460121"/>
                </a:cubicBezTo>
                <a:lnTo>
                  <a:pt x="9073261" y="8908923"/>
                </a:lnTo>
                <a:cubicBezTo>
                  <a:pt x="9073261" y="9163050"/>
                  <a:pt x="8867267" y="9369171"/>
                  <a:pt x="8613013" y="9369171"/>
                </a:cubicBezTo>
                <a:lnTo>
                  <a:pt x="460248" y="9369171"/>
                </a:lnTo>
                <a:cubicBezTo>
                  <a:pt x="205994" y="9369171"/>
                  <a:pt x="0" y="9163177"/>
                  <a:pt x="0" y="8908923"/>
                </a:cubicBezTo>
                <a:lnTo>
                  <a:pt x="0" y="460248"/>
                </a:lnTo>
                <a:cubicBezTo>
                  <a:pt x="0" y="205994"/>
                  <a:pt x="205994" y="0"/>
                  <a:pt x="460248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36866" r="-3686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82241" y="7658157"/>
            <a:ext cx="10082487" cy="16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3D დიზაინი, თერმული კამერა, დინამიკი, ღილაკი და მიკრო კონტროლერი ქმნის სრულ მოწყობილობას “გაზქირის მონიტორნიგის სისტემა”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6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1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1"/>
          <p:cNvSpPr txBox="1"/>
          <p:nvPr/>
        </p:nvSpPr>
        <p:spPr>
          <a:xfrm>
            <a:off x="41081" y="611181"/>
            <a:ext cx="10409486" cy="922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მოქმედების მექანიზმი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7" name="Google Shape;187;p21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1"/>
          <p:cNvSpPr txBox="1"/>
          <p:nvPr/>
        </p:nvSpPr>
        <p:spPr>
          <a:xfrm>
            <a:off x="16698878" y="9269325"/>
            <a:ext cx="714004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100" y="1788013"/>
            <a:ext cx="14992350" cy="78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13536924" y="3684025"/>
            <a:ext cx="4672729" cy="4684586"/>
          </a:xfrm>
          <a:custGeom>
            <a:rect b="b" l="l" r="r" t="t"/>
            <a:pathLst>
              <a:path extrusionOk="0" h="9369171" w="9073261">
                <a:moveTo>
                  <a:pt x="460248" y="0"/>
                </a:moveTo>
                <a:lnTo>
                  <a:pt x="8613140" y="0"/>
                </a:lnTo>
                <a:cubicBezTo>
                  <a:pt x="8735187" y="0"/>
                  <a:pt x="8852281" y="48514"/>
                  <a:pt x="8938514" y="134747"/>
                </a:cubicBezTo>
                <a:cubicBezTo>
                  <a:pt x="9024747" y="220980"/>
                  <a:pt x="9073261" y="338074"/>
                  <a:pt x="9073261" y="460121"/>
                </a:cubicBezTo>
                <a:lnTo>
                  <a:pt x="9073261" y="8908923"/>
                </a:lnTo>
                <a:cubicBezTo>
                  <a:pt x="9073261" y="9163050"/>
                  <a:pt x="8867267" y="9369171"/>
                  <a:pt x="8613013" y="9369171"/>
                </a:cubicBezTo>
                <a:lnTo>
                  <a:pt x="460248" y="9369171"/>
                </a:lnTo>
                <a:cubicBezTo>
                  <a:pt x="205994" y="9369171"/>
                  <a:pt x="0" y="9163177"/>
                  <a:pt x="0" y="8908923"/>
                </a:cubicBezTo>
                <a:lnTo>
                  <a:pt x="0" y="460248"/>
                </a:lnTo>
                <a:cubicBezTo>
                  <a:pt x="0" y="205994"/>
                  <a:pt x="205994" y="0"/>
                  <a:pt x="460248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5690" r="-569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6" scaled="0"/>
        </a:gra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22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7" name="Google Shape;197;p22"/>
          <p:cNvCxnSpPr/>
          <p:nvPr/>
        </p:nvCxnSpPr>
        <p:spPr>
          <a:xfrm rot="9513">
            <a:off x="4288212" y="203799"/>
            <a:ext cx="10407640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2"/>
          <p:cNvSpPr txBox="1"/>
          <p:nvPr/>
        </p:nvSpPr>
        <p:spPr>
          <a:xfrm>
            <a:off x="16698878" y="9269325"/>
            <a:ext cx="71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250" y="317213"/>
            <a:ext cx="17323952" cy="965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16408898" y="840790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23"/>
          <p:cNvSpPr/>
          <p:nvPr/>
        </p:nvSpPr>
        <p:spPr>
          <a:xfrm>
            <a:off x="-2086004" y="-3177197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7" name="Google Shape;207;p23"/>
          <p:cNvCxnSpPr/>
          <p:nvPr/>
        </p:nvCxnSpPr>
        <p:spPr>
          <a:xfrm rot="9420">
            <a:off x="4288212" y="203711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3"/>
          <p:cNvSpPr txBox="1"/>
          <p:nvPr/>
        </p:nvSpPr>
        <p:spPr>
          <a:xfrm>
            <a:off x="0" y="530924"/>
            <a:ext cx="18491102" cy="787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ვებგვერდი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23"/>
          <p:cNvSpPr/>
          <p:nvPr/>
        </p:nvSpPr>
        <p:spPr>
          <a:xfrm>
            <a:off x="538770" y="5032867"/>
            <a:ext cx="3979342" cy="3979342"/>
          </a:xfrm>
          <a:custGeom>
            <a:rect b="b" l="l" r="r" t="t"/>
            <a:pathLst>
              <a:path extrusionOk="0" h="812800" w="812800">
                <a:moveTo>
                  <a:pt x="44747" y="0"/>
                </a:moveTo>
                <a:lnTo>
                  <a:pt x="768053" y="0"/>
                </a:lnTo>
                <a:cubicBezTo>
                  <a:pt x="779921" y="0"/>
                  <a:pt x="791302" y="4714"/>
                  <a:pt x="799694" y="13106"/>
                </a:cubicBezTo>
                <a:cubicBezTo>
                  <a:pt x="808086" y="21498"/>
                  <a:pt x="812800" y="32879"/>
                  <a:pt x="812800" y="44747"/>
                </a:cubicBezTo>
                <a:lnTo>
                  <a:pt x="812800" y="768053"/>
                </a:lnTo>
                <a:cubicBezTo>
                  <a:pt x="812800" y="779921"/>
                  <a:pt x="808086" y="791302"/>
                  <a:pt x="799694" y="799694"/>
                </a:cubicBezTo>
                <a:cubicBezTo>
                  <a:pt x="791302" y="808086"/>
                  <a:pt x="779921" y="812800"/>
                  <a:pt x="768053" y="812800"/>
                </a:cubicBezTo>
                <a:lnTo>
                  <a:pt x="44747" y="812800"/>
                </a:lnTo>
                <a:cubicBezTo>
                  <a:pt x="32879" y="812800"/>
                  <a:pt x="21498" y="808086"/>
                  <a:pt x="13106" y="799694"/>
                </a:cubicBezTo>
                <a:cubicBezTo>
                  <a:pt x="4714" y="791302"/>
                  <a:pt x="0" y="779921"/>
                  <a:pt x="0" y="768053"/>
                </a:cubicBezTo>
                <a:lnTo>
                  <a:pt x="0" y="44747"/>
                </a:lnTo>
                <a:cubicBezTo>
                  <a:pt x="0" y="32879"/>
                  <a:pt x="4714" y="21498"/>
                  <a:pt x="13106" y="13106"/>
                </a:cubicBezTo>
                <a:cubicBezTo>
                  <a:pt x="21498" y="4714"/>
                  <a:pt x="32879" y="0"/>
                  <a:pt x="44747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162" r="-116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0" y="9107459"/>
            <a:ext cx="7698600" cy="49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39" lvl="2" marL="548518" marR="0" rtl="0" algn="l">
              <a:lnSpc>
                <a:spcPct val="16798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399"/>
              <a:buFont typeface="Arial"/>
              <a:buChar char="⚬"/>
            </a:pPr>
            <a:r>
              <a:rPr b="1" i="0" lang="en-US" sz="2399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https://test-website-pi-three.vercel.app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16041748" y="9115425"/>
            <a:ext cx="1369800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244349" y="2878312"/>
            <a:ext cx="6248649" cy="19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პროექტის დოკუმენტაციის ოფიციალური ვებ-გვერდი, სადაც ხელმისაწვდომია სრული ინფორმაცია პროექტის შესახებ.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6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5100" y="1561350"/>
            <a:ext cx="6354599" cy="36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4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21" name="Google Shape;221;p24"/>
          <p:cNvCxnSpPr/>
          <p:nvPr/>
        </p:nvCxnSpPr>
        <p:spPr>
          <a:xfrm rot="9480">
            <a:off x="4288212" y="203749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4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4"/>
          <p:cNvSpPr txBox="1"/>
          <p:nvPr/>
        </p:nvSpPr>
        <p:spPr>
          <a:xfrm>
            <a:off x="16291699" y="9730625"/>
            <a:ext cx="16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825625" y="679350"/>
            <a:ext cx="4967610" cy="3724245"/>
          </a:xfrm>
          <a:custGeom>
            <a:rect b="b" l="l" r="r" t="t"/>
            <a:pathLst>
              <a:path extrusionOk="0" h="9369171" w="9073261">
                <a:moveTo>
                  <a:pt x="460248" y="0"/>
                </a:moveTo>
                <a:lnTo>
                  <a:pt x="8613140" y="0"/>
                </a:lnTo>
                <a:cubicBezTo>
                  <a:pt x="8735187" y="0"/>
                  <a:pt x="8852281" y="48514"/>
                  <a:pt x="8938514" y="134747"/>
                </a:cubicBezTo>
                <a:cubicBezTo>
                  <a:pt x="9024747" y="220980"/>
                  <a:pt x="9073261" y="338074"/>
                  <a:pt x="9073261" y="460121"/>
                </a:cubicBezTo>
                <a:lnTo>
                  <a:pt x="9073261" y="8908923"/>
                </a:lnTo>
                <a:cubicBezTo>
                  <a:pt x="9073261" y="9163050"/>
                  <a:pt x="8867267" y="9369171"/>
                  <a:pt x="8613013" y="9369171"/>
                </a:cubicBezTo>
                <a:lnTo>
                  <a:pt x="460248" y="9369171"/>
                </a:lnTo>
                <a:cubicBezTo>
                  <a:pt x="205994" y="9369171"/>
                  <a:pt x="0" y="9163177"/>
                  <a:pt x="0" y="8908923"/>
                </a:cubicBezTo>
                <a:lnTo>
                  <a:pt x="0" y="460248"/>
                </a:lnTo>
                <a:cubicBezTo>
                  <a:pt x="0" y="205994"/>
                  <a:pt x="205994" y="0"/>
                  <a:pt x="460248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270" l="0" r="0" t="-1428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152732" y="4864855"/>
            <a:ext cx="7074943" cy="439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6032750" y="4403603"/>
            <a:ext cx="6354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შეჯამება</a:t>
            </a:r>
            <a:endParaRPr sz="2400"/>
          </a:p>
        </p:txBody>
      </p:sp>
      <p:pic>
        <p:nvPicPr>
          <p:cNvPr id="227" name="Google Shape;227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533499" y="5573298"/>
            <a:ext cx="6354601" cy="3959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844"/>
            </a:gs>
            <a:gs pos="100000">
              <a:srgbClr val="44FFD2"/>
            </a:gs>
          </a:gsLst>
          <a:lin ang="2700000" scaled="0"/>
        </a:gra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/>
          <p:nvPr/>
        </p:nvSpPr>
        <p:spPr>
          <a:xfrm>
            <a:off x="8780812" y="-4927216"/>
            <a:ext cx="14345888" cy="13041725"/>
          </a:xfrm>
          <a:custGeom>
            <a:rect b="b" l="l" r="r" t="t"/>
            <a:pathLst>
              <a:path extrusionOk="0" h="17388967" w="19127851">
                <a:moveTo>
                  <a:pt x="0" y="0"/>
                </a:moveTo>
                <a:lnTo>
                  <a:pt x="19127851" y="0"/>
                </a:lnTo>
                <a:lnTo>
                  <a:pt x="19127851" y="17388967"/>
                </a:lnTo>
                <a:lnTo>
                  <a:pt x="0" y="17388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79" l="0" r="0" t="-79"/>
            </a:stretch>
          </a:blipFill>
          <a:ln>
            <a:noFill/>
          </a:ln>
        </p:spPr>
      </p:sp>
      <p:sp>
        <p:nvSpPr>
          <p:cNvPr id="233" name="Google Shape;233;p25"/>
          <p:cNvSpPr/>
          <p:nvPr/>
        </p:nvSpPr>
        <p:spPr>
          <a:xfrm>
            <a:off x="0" y="-3332512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5"/>
          <p:cNvSpPr/>
          <p:nvPr/>
        </p:nvSpPr>
        <p:spPr>
          <a:xfrm>
            <a:off x="-2086004" y="-3252616"/>
            <a:ext cx="13619512" cy="13619512"/>
          </a:xfrm>
          <a:custGeom>
            <a:rect b="b" l="l" r="r" t="t"/>
            <a:pathLst>
              <a:path extrusionOk="0" h="18159349" w="18159349">
                <a:moveTo>
                  <a:pt x="0" y="0"/>
                </a:moveTo>
                <a:lnTo>
                  <a:pt x="18159349" y="0"/>
                </a:lnTo>
                <a:lnTo>
                  <a:pt x="18159349" y="18159349"/>
                </a:lnTo>
                <a:lnTo>
                  <a:pt x="0" y="18159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5" name="Google Shape;235;p25"/>
          <p:cNvCxnSpPr/>
          <p:nvPr/>
        </p:nvCxnSpPr>
        <p:spPr>
          <a:xfrm rot="9420">
            <a:off x="3940112" y="875043"/>
            <a:ext cx="10407787" cy="0"/>
          </a:xfrm>
          <a:prstGeom prst="straightConnector1">
            <a:avLst/>
          </a:pr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25"/>
          <p:cNvSpPr txBox="1"/>
          <p:nvPr/>
        </p:nvSpPr>
        <p:spPr>
          <a:xfrm>
            <a:off x="1503740" y="4479198"/>
            <a:ext cx="15783373" cy="107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მადლობა ყურადღებისთვის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5311228" y="9115425"/>
            <a:ext cx="2100596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16408898" y="0"/>
            <a:ext cx="1879092" cy="1879092"/>
          </a:xfrm>
          <a:custGeom>
            <a:rect b="b" l="l" r="r" t="t"/>
            <a:pathLst>
              <a:path extrusionOk="0" h="2505456" w="2505456">
                <a:moveTo>
                  <a:pt x="0" y="0"/>
                </a:moveTo>
                <a:lnTo>
                  <a:pt x="2505456" y="0"/>
                </a:lnTo>
                <a:lnTo>
                  <a:pt x="2505456" y="2505456"/>
                </a:lnTo>
                <a:lnTo>
                  <a:pt x="0" y="2505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